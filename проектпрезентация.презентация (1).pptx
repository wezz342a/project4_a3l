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536040" y="536040"/>
            <a:ext cx="8071560" cy="40723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4960" y="1150920"/>
            <a:ext cx="5407920" cy="140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261480" y="2160000"/>
            <a:ext cx="2194200" cy="21942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2;p14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714960" y="1757880"/>
            <a:ext cx="3492360" cy="259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432400" y="1326240"/>
            <a:ext cx="2268000" cy="22680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48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7;p15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14960" y="2137320"/>
            <a:ext cx="4359960" cy="123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14960" y="1295280"/>
            <a:ext cx="43599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Prosto One"/>
                <a:ea typeface="Prosto On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392160" y="1385640"/>
            <a:ext cx="2036520" cy="29271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5" name="Google Shape;18;p3"/>
          <p:cNvCxnSpPr/>
          <p:nvPr/>
        </p:nvCxnSpPr>
        <p:spPr>
          <a:xfrm>
            <a:off x="937440" y="635040"/>
            <a:ext cx="82044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16" name="Google Shape;19;p3"/>
          <p:cNvCxnSpPr/>
          <p:nvPr/>
        </p:nvCxnSpPr>
        <p:spPr>
          <a:xfrm>
            <a:off x="13320" y="4608360"/>
            <a:ext cx="9142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7" name="Google Shape;20;p3"/>
          <p:cNvSpPr/>
          <p:nvPr/>
        </p:nvSpPr>
        <p:spPr>
          <a:xfrm>
            <a:off x="238680" y="192240"/>
            <a:ext cx="885600" cy="885600"/>
          </a:xfrm>
          <a:prstGeom prst="star12">
            <a:avLst>
              <a:gd name="adj" fmla="val 33864"/>
            </a:avLst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22;p21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430000" y="53496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Google Shape;125;p21"/>
          <p:cNvSpPr/>
          <p:nvPr/>
        </p:nvSpPr>
        <p:spPr>
          <a:xfrm>
            <a:off x="2324880" y="3560760"/>
            <a:ext cx="44935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150" b="1" u="none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CREDITS:</a:t>
            </a:r>
            <a:r>
              <a:rPr lang="en" sz="1150" b="0" u="none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 This presentation template was created by </a:t>
            </a:r>
            <a:r>
              <a:rPr lang="en" sz="1150" b="1" u="sng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  <a:hlinkClick r:id="rId2"/>
              </a:rPr>
              <a:t>Slidesgo</a:t>
            </a:r>
            <a:r>
              <a:rPr lang="en" sz="1150" b="0" u="none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, and includes icons, infographics &amp; images by </a:t>
            </a:r>
            <a:r>
              <a:rPr lang="en" sz="1150" b="1" u="sng" strike="noStrik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  <a:hlinkClick r:id="rId3"/>
              </a:rPr>
              <a:t>Freepik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126;p21"/>
          <p:cNvSpPr/>
          <p:nvPr/>
        </p:nvSpPr>
        <p:spPr>
          <a:xfrm>
            <a:off x="7722000" y="3593160"/>
            <a:ext cx="885600" cy="885600"/>
          </a:xfrm>
          <a:prstGeom prst="star12">
            <a:avLst>
              <a:gd name="adj" fmla="val 33864"/>
            </a:avLst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48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E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154;p28"/>
          <p:cNvCxnSpPr/>
          <p:nvPr/>
        </p:nvCxnSpPr>
        <p:spPr>
          <a:xfrm>
            <a:off x="6122880" y="536040"/>
            <a:ext cx="360" cy="407268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7" name="Прямоугольник 26"/>
          <p:cNvSpPr/>
          <p:nvPr/>
        </p:nvSpPr>
        <p:spPr>
          <a:xfrm>
            <a:off x="714240" y="1152360"/>
            <a:ext cx="54097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8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0" u="none" strike="noStrike" dirty="0" err="1">
                <a:solidFill>
                  <a:srgbClr val="FFFFFF"/>
                </a:solidFill>
                <a:effectLst/>
                <a:uFillTx/>
                <a:latin typeface="Prosto One"/>
              </a:rPr>
              <a:t>FinPulse</a:t>
            </a:r>
            <a:endParaRPr lang="ru-RU" sz="4200" b="0" u="none" strike="noStrike" dirty="0">
              <a:solidFill>
                <a:srgbClr val="FFFFFF"/>
              </a:solidFill>
              <a:effectLst/>
              <a:uFillTx/>
              <a:latin typeface="Prosto One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714240" y="1418940"/>
            <a:ext cx="4086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Didact Gothic"/>
              </a:rPr>
              <a:t>Учёт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Didact Gothic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Didact Gothic"/>
              </a:rPr>
              <a:t>доходов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Didact Gothic"/>
              </a:rPr>
              <a:t> и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Didact Gothic"/>
              </a:rPr>
              <a:t>расходов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Didact Gothic"/>
              </a:rPr>
              <a:t>,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Didact Gothic"/>
              </a:rPr>
              <a:t>планирование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Didact Gothic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Didact Gothic"/>
              </a:rPr>
              <a:t>бюджета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Didact Gothic"/>
              </a:rPr>
              <a:t> и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Didact Gothic"/>
              </a:rPr>
              <a:t>целей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D49A78-74AB-16B9-2AAC-E807D2EEC305}"/>
              </a:ext>
            </a:extLst>
          </p:cNvPr>
          <p:cNvSpPr txBox="1"/>
          <p:nvPr/>
        </p:nvSpPr>
        <p:spPr>
          <a:xfrm>
            <a:off x="2528099" y="3605561"/>
            <a:ext cx="35940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Подготовила студентка 2 курса,</a:t>
            </a:r>
          </a:p>
          <a:p>
            <a:r>
              <a:rPr lang="ru-RU" dirty="0"/>
              <a:t>направления </a:t>
            </a:r>
            <a:r>
              <a:rPr lang="ru-RU" dirty="0" err="1"/>
              <a:t>ИСиТ</a:t>
            </a:r>
            <a:r>
              <a:rPr lang="ru-RU" dirty="0"/>
              <a:t>, </a:t>
            </a:r>
          </a:p>
          <a:p>
            <a:r>
              <a:rPr lang="ru-RU" dirty="0"/>
              <a:t>Албакова Фатима</a:t>
            </a:r>
          </a:p>
        </p:txBody>
      </p:sp>
      <p:pic>
        <p:nvPicPr>
          <p:cNvPr id="10" name="Рисунок 9" descr="Монеты со сплошной заливкой">
            <a:extLst>
              <a:ext uri="{FF2B5EF4-FFF2-40B4-BE49-F238E27FC236}">
                <a16:creationId xmlns:a16="http://schemas.microsoft.com/office/drawing/2014/main" id="{B891C513-C3F1-9525-2BFF-DB47C3441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420" y="3231632"/>
            <a:ext cx="1297259" cy="129725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198;p32"/>
          <p:cNvSpPr/>
          <p:nvPr/>
        </p:nvSpPr>
        <p:spPr>
          <a:xfrm>
            <a:off x="2344680" y="4453200"/>
            <a:ext cx="263520" cy="263520"/>
          </a:xfrm>
          <a:custGeom>
            <a:avLst/>
            <a:gdLst>
              <a:gd name="textAreaLeft" fmla="*/ 0 w 263520"/>
              <a:gd name="textAreaRight" fmla="*/ 263880 w 2635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3319" h="3319">
                <a:moveTo>
                  <a:pt x="1648" y="0"/>
                </a:moveTo>
                <a:cubicBezTo>
                  <a:pt x="1578" y="1290"/>
                  <a:pt x="1290" y="1509"/>
                  <a:pt x="0" y="1555"/>
                </a:cubicBezTo>
                <a:lnTo>
                  <a:pt x="0" y="1579"/>
                </a:lnTo>
                <a:cubicBezTo>
                  <a:pt x="1290" y="1648"/>
                  <a:pt x="1578" y="1970"/>
                  <a:pt x="1648" y="3318"/>
                </a:cubicBezTo>
                <a:lnTo>
                  <a:pt x="1671" y="3318"/>
                </a:lnTo>
                <a:cubicBezTo>
                  <a:pt x="1728" y="1970"/>
                  <a:pt x="2028" y="1648"/>
                  <a:pt x="3318" y="1579"/>
                </a:cubicBezTo>
                <a:lnTo>
                  <a:pt x="3318" y="1555"/>
                </a:lnTo>
                <a:cubicBezTo>
                  <a:pt x="2028" y="1521"/>
                  <a:pt x="1740" y="1302"/>
                  <a:pt x="1671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0" name="Google Shape;199;p32"/>
          <p:cNvGrpSpPr/>
          <p:nvPr/>
        </p:nvGrpSpPr>
        <p:grpSpPr>
          <a:xfrm>
            <a:off x="5432400" y="2275920"/>
            <a:ext cx="2268000" cy="2268360"/>
            <a:chOff x="5432400" y="2275920"/>
            <a:chExt cx="2268000" cy="2268360"/>
          </a:xfrm>
        </p:grpSpPr>
        <p:sp>
          <p:nvSpPr>
            <p:cNvPr id="31" name="Google Shape;200;p32"/>
            <p:cNvSpPr/>
            <p:nvPr/>
          </p:nvSpPr>
          <p:spPr>
            <a:xfrm>
              <a:off x="6123600" y="3231000"/>
              <a:ext cx="885600" cy="885600"/>
            </a:xfrm>
            <a:prstGeom prst="star12">
              <a:avLst>
                <a:gd name="adj" fmla="val 33864"/>
              </a:avLst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201;p32"/>
            <p:cNvSpPr/>
            <p:nvPr/>
          </p:nvSpPr>
          <p:spPr>
            <a:xfrm>
              <a:off x="5432400" y="2275920"/>
              <a:ext cx="2268000" cy="22683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4" name="Рисунок 3" descr="Деньги со сплошной заливкой">
            <a:extLst>
              <a:ext uri="{FF2B5EF4-FFF2-40B4-BE49-F238E27FC236}">
                <a16:creationId xmlns:a16="http://schemas.microsoft.com/office/drawing/2014/main" id="{F0E5257E-EFB6-C150-8BA1-D99CE142D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2545" y="2431513"/>
            <a:ext cx="413584" cy="4474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CB336B-E2B7-E7EB-94CE-1B2D2B994C71}"/>
              </a:ext>
            </a:extLst>
          </p:cNvPr>
          <p:cNvSpPr txBox="1"/>
          <p:nvPr/>
        </p:nvSpPr>
        <p:spPr>
          <a:xfrm>
            <a:off x="609598" y="370121"/>
            <a:ext cx="2207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Проблема</a:t>
            </a:r>
          </a:p>
        </p:txBody>
      </p:sp>
      <p:pic>
        <p:nvPicPr>
          <p:cNvPr id="8" name="Рисунок 7" descr="Вопросительный знак со сплошной заливкой">
            <a:extLst>
              <a:ext uri="{FF2B5EF4-FFF2-40B4-BE49-F238E27FC236}">
                <a16:creationId xmlns:a16="http://schemas.microsoft.com/office/drawing/2014/main" id="{94842E63-DAF4-6B5C-FFFB-7D5E131000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464" y="2983450"/>
            <a:ext cx="497485" cy="4974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AAD7F9-5495-96AE-FEB3-EF9A60DD13F6}"/>
              </a:ext>
            </a:extLst>
          </p:cNvPr>
          <p:cNvSpPr txBox="1"/>
          <p:nvPr/>
        </p:nvSpPr>
        <p:spPr>
          <a:xfrm>
            <a:off x="906129" y="2491733"/>
            <a:ext cx="421037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chemeClr val="accent2"/>
                </a:solidFill>
                <a:effectLst/>
                <a:latin typeface="quote-cjk-patch"/>
              </a:rPr>
              <a:t>Спонтанные траты истощают бюджет</a:t>
            </a:r>
          </a:p>
          <a:p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980E13-5CC3-FF12-65FA-3B3262FD998C}"/>
              </a:ext>
            </a:extLst>
          </p:cNvPr>
          <p:cNvSpPr txBox="1"/>
          <p:nvPr/>
        </p:nvSpPr>
        <p:spPr>
          <a:xfrm>
            <a:off x="906129" y="3042005"/>
            <a:ext cx="3986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0" i="0" dirty="0">
                <a:solidFill>
                  <a:schemeClr val="accent2"/>
                </a:solidFill>
                <a:effectLst/>
                <a:latin typeface="quote-cjk-patch"/>
              </a:rPr>
              <a:t>Сложно вспомнить, куда ушли деньги</a:t>
            </a:r>
          </a:p>
          <a:p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C271B8-875B-C681-A08D-C855DB86D3FF}"/>
              </a:ext>
            </a:extLst>
          </p:cNvPr>
          <p:cNvSpPr txBox="1"/>
          <p:nvPr/>
        </p:nvSpPr>
        <p:spPr>
          <a:xfrm>
            <a:off x="921758" y="3652497"/>
            <a:ext cx="4240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0" i="0" dirty="0">
                <a:solidFill>
                  <a:schemeClr val="accent2"/>
                </a:solidFill>
                <a:effectLst/>
                <a:latin typeface="quote-cjk-patch"/>
              </a:rPr>
              <a:t>Без учёта невозможно накопить на цель</a:t>
            </a:r>
          </a:p>
          <a:p>
            <a:endParaRPr lang="ru-RU" dirty="0">
              <a:solidFill>
                <a:schemeClr val="accent2"/>
              </a:solidFill>
            </a:endParaRPr>
          </a:p>
        </p:txBody>
      </p:sp>
      <p:pic>
        <p:nvPicPr>
          <p:cNvPr id="18" name="Рисунок 17" descr="Доллар со сплошной заливкой">
            <a:extLst>
              <a:ext uri="{FF2B5EF4-FFF2-40B4-BE49-F238E27FC236}">
                <a16:creationId xmlns:a16="http://schemas.microsoft.com/office/drawing/2014/main" id="{47680061-9036-ACC4-6EE1-E28EFC8C15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6283" y="3514859"/>
            <a:ext cx="497485" cy="49748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6A6A898-A8E7-8D9F-3B92-7F8F11878FFC}"/>
              </a:ext>
            </a:extLst>
          </p:cNvPr>
          <p:cNvSpPr txBox="1"/>
          <p:nvPr/>
        </p:nvSpPr>
        <p:spPr>
          <a:xfrm>
            <a:off x="609598" y="895615"/>
            <a:ext cx="3110324" cy="518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Prosto One"/>
              </a:rPr>
              <a:t>Почему это важно</a:t>
            </a:r>
            <a:r>
              <a:rPr lang="en-US" sz="2800" dirty="0">
                <a:latin typeface="Prosto One"/>
              </a:rPr>
              <a:t>?</a:t>
            </a:r>
            <a:endParaRPr lang="ru-RU" sz="2800" dirty="0">
              <a:latin typeface="Prosto One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/>
          <p:cNvSpPr/>
          <p:nvPr/>
        </p:nvSpPr>
        <p:spPr>
          <a:xfrm>
            <a:off x="2762640" y="589825"/>
            <a:ext cx="22856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5000" dirty="0">
                <a:solidFill>
                  <a:srgbClr val="FFFFFF"/>
                </a:solidFill>
                <a:latin typeface="Prosto One"/>
              </a:rPr>
              <a:t>Решение</a:t>
            </a: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2762640" y="1243586"/>
            <a:ext cx="3238200" cy="609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4000" b="0" i="0" dirty="0">
                <a:effectLst/>
                <a:latin typeface="quote-cjk-patch"/>
              </a:rPr>
              <a:t>Что такое </a:t>
            </a:r>
            <a:r>
              <a:rPr lang="en-US" sz="4000" b="0" i="0" dirty="0" err="1">
                <a:effectLst/>
                <a:latin typeface="quote-cjk-patch"/>
              </a:rPr>
              <a:t>FinPulse</a:t>
            </a:r>
            <a:r>
              <a:rPr lang="en-US" sz="4000" b="0" i="0" dirty="0">
                <a:effectLst/>
                <a:latin typeface="quote-cjk-patch"/>
              </a:rPr>
              <a:t>?</a:t>
            </a:r>
            <a:endParaRPr lang="en-US" sz="4000" b="0" u="none" strike="noStrike" dirty="0">
              <a:effectLst/>
              <a:uFillTx/>
              <a:latin typeface="OpenSymbol"/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5048280" y="3333600"/>
            <a:ext cx="323820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C98D0-6144-8E8C-81B0-D64700838FB1}"/>
              </a:ext>
            </a:extLst>
          </p:cNvPr>
          <p:cNvSpPr txBox="1"/>
          <p:nvPr/>
        </p:nvSpPr>
        <p:spPr>
          <a:xfrm>
            <a:off x="945125" y="2179437"/>
            <a:ext cx="30470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effectLst/>
                <a:latin typeface="quote-cjk-patch"/>
              </a:rPr>
              <a:t>Приложение для ежедневного учёта доходов и расходов. Помогает контролировать бюджет, планировать траты и достигать финансовых целей.</a:t>
            </a:r>
            <a:endParaRPr lang="ru-RU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9C1ED-1B31-F555-566C-FB8A04EE19D2}"/>
              </a:ext>
            </a:extLst>
          </p:cNvPr>
          <p:cNvSpPr txBox="1"/>
          <p:nvPr/>
        </p:nvSpPr>
        <p:spPr>
          <a:xfrm>
            <a:off x="3393688" y="210680"/>
            <a:ext cx="360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Интерфейс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FE363F-7D4D-A853-78CC-3B54914C6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610" y="795455"/>
            <a:ext cx="5237342" cy="399076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/>
          <p:cNvSpPr/>
          <p:nvPr/>
        </p:nvSpPr>
        <p:spPr>
          <a:xfrm>
            <a:off x="812555" y="314242"/>
            <a:ext cx="74293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4300" dirty="0">
                <a:solidFill>
                  <a:srgbClr val="FFFFFF"/>
                </a:solidFill>
                <a:latin typeface="Prosto One"/>
              </a:rPr>
              <a:t>Функции</a:t>
            </a:r>
            <a:endParaRPr lang="en-US" sz="4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BBA83A-111E-9CA2-7E3B-0BF06F0CB783}"/>
              </a:ext>
            </a:extLst>
          </p:cNvPr>
          <p:cNvSpPr txBox="1"/>
          <p:nvPr/>
        </p:nvSpPr>
        <p:spPr>
          <a:xfrm>
            <a:off x="812555" y="1356246"/>
            <a:ext cx="291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Возможности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endParaRPr lang="ru-RU" dirty="0">
              <a:solidFill>
                <a:schemeClr val="accent2"/>
              </a:solidFill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326547B-DA6D-112D-84FA-43BDB8A0E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115411"/>
              </p:ext>
            </p:extLst>
          </p:nvPr>
        </p:nvGraphicFramePr>
        <p:xfrm>
          <a:off x="812555" y="1879728"/>
          <a:ext cx="5730240" cy="112776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358944419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1745055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solidFill>
                            <a:schemeClr val="accent2"/>
                          </a:solidFill>
                          <a:effectLst/>
                          <a:latin typeface="quote-cjk-patch"/>
                        </a:rPr>
                        <a:t>🔴 Доходы и расходы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📂 Категории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736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accent2"/>
                          </a:solidFill>
                          <a:effectLst/>
                          <a:latin typeface="quote-cjk-patch"/>
                        </a:rPr>
                        <a:t>Добавление операций в один клик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Еда, транспорт, работа и другие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498726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DEA908A-E78B-0C9C-43E4-2081804AD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359578"/>
              </p:ext>
            </p:extLst>
          </p:nvPr>
        </p:nvGraphicFramePr>
        <p:xfrm>
          <a:off x="812555" y="3161638"/>
          <a:ext cx="5730240" cy="112776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74435926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398185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📊 Бюджет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🎯 Цели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944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Лимит на неделю или месяц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Отслеживание привычек и серий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12801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209;p33"/>
          <p:cNvGrpSpPr/>
          <p:nvPr/>
        </p:nvGrpSpPr>
        <p:grpSpPr>
          <a:xfrm>
            <a:off x="5840640" y="3166200"/>
            <a:ext cx="2855520" cy="1442160"/>
            <a:chOff x="5840640" y="3166200"/>
            <a:chExt cx="2855520" cy="1442160"/>
          </a:xfrm>
        </p:grpSpPr>
        <p:sp>
          <p:nvSpPr>
            <p:cNvPr id="46" name="Google Shape;210;p33"/>
            <p:cNvSpPr/>
            <p:nvPr/>
          </p:nvSpPr>
          <p:spPr>
            <a:xfrm>
              <a:off x="5840640" y="3722760"/>
              <a:ext cx="885600" cy="885600"/>
            </a:xfrm>
            <a:prstGeom prst="star12">
              <a:avLst>
                <a:gd name="adj" fmla="val 33864"/>
              </a:avLst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7" name="Google Shape;211;p33"/>
            <p:cNvGrpSpPr/>
            <p:nvPr/>
          </p:nvGrpSpPr>
          <p:grpSpPr>
            <a:xfrm>
              <a:off x="6118560" y="3300120"/>
              <a:ext cx="2577240" cy="242640"/>
              <a:chOff x="6118560" y="3300120"/>
              <a:chExt cx="2577240" cy="242640"/>
            </a:xfrm>
          </p:grpSpPr>
          <p:sp>
            <p:nvSpPr>
              <p:cNvPr id="48" name="Google Shape;212;p33"/>
              <p:cNvSpPr/>
              <p:nvPr/>
            </p:nvSpPr>
            <p:spPr>
              <a:xfrm>
                <a:off x="6118560" y="330012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18"/>
                      <a:pt x="2916" y="2743"/>
                      <a:pt x="8215" y="3722"/>
                    </a:cubicBezTo>
                    <a:cubicBezTo>
                      <a:pt x="13469" y="4701"/>
                      <a:pt x="20463" y="5231"/>
                      <a:pt x="27894" y="5231"/>
                    </a:cubicBezTo>
                    <a:cubicBezTo>
                      <a:pt x="35325" y="5231"/>
                      <a:pt x="42307" y="4701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49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49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9840" bIns="69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213;p33"/>
              <p:cNvSpPr/>
              <p:nvPr/>
            </p:nvSpPr>
            <p:spPr>
              <a:xfrm>
                <a:off x="6118560" y="340344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30"/>
                      <a:pt x="2916" y="2743"/>
                      <a:pt x="8215" y="3722"/>
                    </a:cubicBezTo>
                    <a:cubicBezTo>
                      <a:pt x="13469" y="4702"/>
                      <a:pt x="20463" y="5232"/>
                      <a:pt x="27894" y="5232"/>
                    </a:cubicBezTo>
                    <a:cubicBezTo>
                      <a:pt x="35325" y="5232"/>
                      <a:pt x="42307" y="4702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61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61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9840" bIns="69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0" name="Google Shape;214;p33"/>
            <p:cNvGrpSpPr/>
            <p:nvPr/>
          </p:nvGrpSpPr>
          <p:grpSpPr>
            <a:xfrm>
              <a:off x="6118920" y="3166200"/>
              <a:ext cx="2577240" cy="242640"/>
              <a:chOff x="6118920" y="3166200"/>
              <a:chExt cx="2577240" cy="242640"/>
            </a:xfrm>
          </p:grpSpPr>
          <p:sp>
            <p:nvSpPr>
              <p:cNvPr id="51" name="Google Shape;215;p33"/>
              <p:cNvSpPr/>
              <p:nvPr/>
            </p:nvSpPr>
            <p:spPr>
              <a:xfrm rot="10800000">
                <a:off x="6118920" y="326952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18"/>
                      <a:pt x="2916" y="2743"/>
                      <a:pt x="8215" y="3722"/>
                    </a:cubicBezTo>
                    <a:cubicBezTo>
                      <a:pt x="13469" y="4701"/>
                      <a:pt x="20463" y="5231"/>
                      <a:pt x="27894" y="5231"/>
                    </a:cubicBezTo>
                    <a:cubicBezTo>
                      <a:pt x="35325" y="5231"/>
                      <a:pt x="42307" y="4701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49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49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9840" bIns="69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" name="Google Shape;216;p33"/>
              <p:cNvSpPr/>
              <p:nvPr/>
            </p:nvSpPr>
            <p:spPr>
              <a:xfrm rot="10800000">
                <a:off x="6118920" y="316620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30"/>
                      <a:pt x="2916" y="2743"/>
                      <a:pt x="8215" y="3722"/>
                    </a:cubicBezTo>
                    <a:cubicBezTo>
                      <a:pt x="13469" y="4702"/>
                      <a:pt x="20463" y="5232"/>
                      <a:pt x="27894" y="5232"/>
                    </a:cubicBezTo>
                    <a:cubicBezTo>
                      <a:pt x="35325" y="5232"/>
                      <a:pt x="42307" y="4702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61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61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9840" bIns="69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4" name="Прямоугольник 53"/>
          <p:cNvSpPr/>
          <p:nvPr/>
        </p:nvSpPr>
        <p:spPr>
          <a:xfrm>
            <a:off x="723960" y="380880"/>
            <a:ext cx="770544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4300" dirty="0">
                <a:solidFill>
                  <a:srgbClr val="FFFFFF"/>
                </a:solidFill>
                <a:latin typeface="Prosto One"/>
              </a:rPr>
              <a:t>Бюджет</a:t>
            </a:r>
            <a:endParaRPr lang="en-US" sz="4300" b="0" u="none" strike="noStrike" dirty="0">
              <a:solidFill>
                <a:srgbClr val="FFFFFF"/>
              </a:solidFill>
              <a:effectLst/>
              <a:uFillTx/>
              <a:latin typeface="Prosto On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1C5652-59BC-CE21-6FFC-EB9206421A3F}"/>
              </a:ext>
            </a:extLst>
          </p:cNvPr>
          <p:cNvSpPr txBox="1"/>
          <p:nvPr/>
        </p:nvSpPr>
        <p:spPr>
          <a:xfrm>
            <a:off x="780586" y="1082393"/>
            <a:ext cx="1843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0" i="0" dirty="0">
                <a:solidFill>
                  <a:schemeClr val="accent2"/>
                </a:solidFill>
                <a:effectLst/>
                <a:latin typeface="Prosto One"/>
              </a:rPr>
              <a:t>Умный бюджет</a:t>
            </a:r>
            <a:endParaRPr lang="ru-RU" sz="2000" dirty="0">
              <a:solidFill>
                <a:schemeClr val="accent2"/>
              </a:solidFill>
              <a:latin typeface="Prosto One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4DA4CB-5773-AF32-C412-4C1021D06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30" y="1796423"/>
            <a:ext cx="5144218" cy="223868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86;p31"/>
          <p:cNvSpPr/>
          <p:nvPr/>
        </p:nvSpPr>
        <p:spPr>
          <a:xfrm>
            <a:off x="5805000" y="1751040"/>
            <a:ext cx="988920" cy="988560"/>
          </a:xfrm>
          <a:custGeom>
            <a:avLst/>
            <a:gdLst>
              <a:gd name="textAreaLeft" fmla="*/ 0 w 988920"/>
              <a:gd name="textAreaRight" fmla="*/ 989280 w 988920"/>
              <a:gd name="textAreaTop" fmla="*/ 0 h 988560"/>
              <a:gd name="textAreaBottom" fmla="*/ 988920 h 988560"/>
            </a:gdLst>
            <a:ahLst/>
            <a:cxnLst/>
            <a:rect l="textAreaLeft" t="textAreaTop" r="textAreaRight" b="textAreaBottom"/>
            <a:pathLst>
              <a:path w="31316" h="31304">
                <a:moveTo>
                  <a:pt x="15658" y="0"/>
                </a:moveTo>
                <a:lnTo>
                  <a:pt x="13215" y="6544"/>
                </a:lnTo>
                <a:lnTo>
                  <a:pt x="7823" y="2097"/>
                </a:lnTo>
                <a:lnTo>
                  <a:pt x="8998" y="8987"/>
                </a:lnTo>
                <a:lnTo>
                  <a:pt x="2097" y="7823"/>
                </a:lnTo>
                <a:lnTo>
                  <a:pt x="6556" y="13204"/>
                </a:lnTo>
                <a:lnTo>
                  <a:pt x="0" y="15646"/>
                </a:lnTo>
                <a:lnTo>
                  <a:pt x="6556" y="18089"/>
                </a:lnTo>
                <a:lnTo>
                  <a:pt x="2097" y="23481"/>
                </a:lnTo>
                <a:lnTo>
                  <a:pt x="8998" y="22317"/>
                </a:lnTo>
                <a:lnTo>
                  <a:pt x="7823" y="29207"/>
                </a:lnTo>
                <a:lnTo>
                  <a:pt x="13215" y="24760"/>
                </a:lnTo>
                <a:lnTo>
                  <a:pt x="15658" y="31304"/>
                </a:lnTo>
                <a:lnTo>
                  <a:pt x="18100" y="24760"/>
                </a:lnTo>
                <a:lnTo>
                  <a:pt x="23492" y="29207"/>
                </a:lnTo>
                <a:lnTo>
                  <a:pt x="22317" y="22317"/>
                </a:lnTo>
                <a:lnTo>
                  <a:pt x="29218" y="23481"/>
                </a:lnTo>
                <a:lnTo>
                  <a:pt x="29218" y="23481"/>
                </a:lnTo>
                <a:lnTo>
                  <a:pt x="24760" y="18089"/>
                </a:lnTo>
                <a:lnTo>
                  <a:pt x="31315" y="15646"/>
                </a:lnTo>
                <a:lnTo>
                  <a:pt x="24760" y="13204"/>
                </a:lnTo>
                <a:lnTo>
                  <a:pt x="29218" y="7823"/>
                </a:lnTo>
                <a:lnTo>
                  <a:pt x="29218" y="7823"/>
                </a:lnTo>
                <a:lnTo>
                  <a:pt x="22317" y="8987"/>
                </a:lnTo>
                <a:lnTo>
                  <a:pt x="22317" y="8987"/>
                </a:lnTo>
                <a:lnTo>
                  <a:pt x="23492" y="2097"/>
                </a:lnTo>
                <a:lnTo>
                  <a:pt x="23492" y="2097"/>
                </a:lnTo>
                <a:lnTo>
                  <a:pt x="18100" y="6544"/>
                </a:lnTo>
                <a:lnTo>
                  <a:pt x="15658" y="0"/>
                </a:lnTo>
                <a:close/>
              </a:path>
            </a:pathLst>
          </a:cu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Google Shape;191;p31"/>
          <p:cNvSpPr/>
          <p:nvPr/>
        </p:nvSpPr>
        <p:spPr>
          <a:xfrm>
            <a:off x="8296920" y="957240"/>
            <a:ext cx="263520" cy="263520"/>
          </a:xfrm>
          <a:custGeom>
            <a:avLst/>
            <a:gdLst>
              <a:gd name="textAreaLeft" fmla="*/ 0 w 263520"/>
              <a:gd name="textAreaRight" fmla="*/ 263880 w 2635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3319" h="3319">
                <a:moveTo>
                  <a:pt x="1648" y="0"/>
                </a:moveTo>
                <a:cubicBezTo>
                  <a:pt x="1578" y="1290"/>
                  <a:pt x="1290" y="1509"/>
                  <a:pt x="0" y="1555"/>
                </a:cubicBezTo>
                <a:lnTo>
                  <a:pt x="0" y="1579"/>
                </a:lnTo>
                <a:cubicBezTo>
                  <a:pt x="1290" y="1648"/>
                  <a:pt x="1578" y="1970"/>
                  <a:pt x="1648" y="3318"/>
                </a:cubicBezTo>
                <a:lnTo>
                  <a:pt x="1671" y="3318"/>
                </a:lnTo>
                <a:cubicBezTo>
                  <a:pt x="1728" y="1970"/>
                  <a:pt x="2028" y="1648"/>
                  <a:pt x="3318" y="1579"/>
                </a:cubicBezTo>
                <a:lnTo>
                  <a:pt x="3318" y="1555"/>
                </a:lnTo>
                <a:cubicBezTo>
                  <a:pt x="2028" y="1521"/>
                  <a:pt x="1740" y="1302"/>
                  <a:pt x="1671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Прямоугольник 57"/>
          <p:cNvSpPr/>
          <p:nvPr/>
        </p:nvSpPr>
        <p:spPr>
          <a:xfrm>
            <a:off x="639899" y="1250460"/>
            <a:ext cx="43621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dirty="0">
                <a:solidFill>
                  <a:srgbClr val="FFFFFF"/>
                </a:solidFill>
                <a:latin typeface="Prosto One"/>
              </a:rPr>
              <a:t>Технологический стек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Прямоугольник 58"/>
          <p:cNvSpPr/>
          <p:nvPr/>
        </p:nvSpPr>
        <p:spPr>
          <a:xfrm>
            <a:off x="714240" y="3371760"/>
            <a:ext cx="43621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Прямоугольник 59"/>
          <p:cNvSpPr/>
          <p:nvPr/>
        </p:nvSpPr>
        <p:spPr>
          <a:xfrm>
            <a:off x="583560" y="957240"/>
            <a:ext cx="43621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4000" b="0" u="none" strike="noStrike" dirty="0">
                <a:solidFill>
                  <a:srgbClr val="FFFFFF"/>
                </a:solidFill>
                <a:effectLst/>
                <a:uFillTx/>
                <a:latin typeface="Didact Gothic"/>
              </a:rPr>
              <a:t>Технологии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497C079-ECCF-F21C-E9E3-41854AD90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893384"/>
              </p:ext>
            </p:extLst>
          </p:nvPr>
        </p:nvGraphicFramePr>
        <p:xfrm>
          <a:off x="714240" y="2457720"/>
          <a:ext cx="5730240" cy="1402080"/>
        </p:xfrm>
        <a:graphic>
          <a:graphicData uri="http://schemas.openxmlformats.org/drawingml/2006/table">
            <a:tbl>
              <a:tblPr/>
              <a:tblGrid>
                <a:gridCol w="1910080">
                  <a:extLst>
                    <a:ext uri="{9D8B030D-6E8A-4147-A177-3AD203B41FA5}">
                      <a16:colId xmlns:a16="http://schemas.microsoft.com/office/drawing/2014/main" val="1068806125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579932307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3341687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effectLst/>
                          <a:latin typeface="quote-cjk-patch"/>
                        </a:rPr>
                        <a:t>Python 3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CustomTkinter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effectLst/>
                          <a:latin typeface="quote-cjk-patch"/>
                        </a:rPr>
                        <a:t>SQLite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727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Язык программирования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Современный интерфейс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База данных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37728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4956E9-28C4-3C7D-5FD2-A5E7BC627C41}"/>
              </a:ext>
            </a:extLst>
          </p:cNvPr>
          <p:cNvSpPr txBox="1"/>
          <p:nvPr/>
        </p:nvSpPr>
        <p:spPr>
          <a:xfrm>
            <a:off x="1538868" y="2088995"/>
            <a:ext cx="618951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500" dirty="0">
                <a:latin typeface="+mj-lt"/>
              </a:rPr>
              <a:t>Спасибо за внимание!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usiness Management by Slidesgo">
  <a:themeElements>
    <a:clrScheme name="Simple Light">
      <a:dk1>
        <a:srgbClr val="FFFFFF"/>
      </a:dk1>
      <a:lt1>
        <a:srgbClr val="363EAE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120</Words>
  <Application>Microsoft Office PowerPoint</Application>
  <PresentationFormat>Экран (16:9)</PresentationFormat>
  <Paragraphs>35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Arial</vt:lpstr>
      <vt:lpstr>Didact Gothic</vt:lpstr>
      <vt:lpstr>OpenSymbol</vt:lpstr>
      <vt:lpstr>Prosto One</vt:lpstr>
      <vt:lpstr>quote-cjk-patch</vt:lpstr>
      <vt:lpstr>Symbol</vt:lpstr>
      <vt:lpstr>Wingdings</vt:lpstr>
      <vt:lpstr>Business Management by Slidesgo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Azerty</dc:creator>
  <cp:lastModifiedBy>Фатима Албакова</cp:lastModifiedBy>
  <cp:revision>2</cp:revision>
  <dcterms:modified xsi:type="dcterms:W3CDTF">2026-05-21T14:39:05Z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2026-05-21T13:13:19Z</dcterms:created>
  <dc:creator>Unknown Creator</dc:creator>
  <dc:description/>
  <dc:language>en-US</dc:language>
  <cp:lastModifiedBy>Unknown Creator</cp:lastModifiedBy>
  <dcterms:modified xsi:type="dcterms:W3CDTF">2026-05-21T13:13:19Z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