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536040" y="536040"/>
            <a:ext cx="8071560" cy="4072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4960" y="1150920"/>
            <a:ext cx="5407920" cy="140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261480" y="2160000"/>
            <a:ext cx="2194200" cy="21942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2;p1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714960" y="1757880"/>
            <a:ext cx="3492360" cy="259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432400" y="1326240"/>
            <a:ext cx="2268000" cy="2268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7;p15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14960" y="2137320"/>
            <a:ext cx="4359960" cy="123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14960" y="129528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392160" y="1385640"/>
            <a:ext cx="2036520" cy="2927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5" name="Google Shape;18;p3"/>
          <p:cNvCxnSpPr/>
          <p:nvPr/>
        </p:nvCxnSpPr>
        <p:spPr>
          <a:xfrm>
            <a:off x="937440" y="635040"/>
            <a:ext cx="82044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6" name="Google Shape;19;p3"/>
          <p:cNvCxnSpPr/>
          <p:nvPr/>
        </p:nvCxnSpPr>
        <p:spPr>
          <a:xfrm>
            <a:off x="13320" y="4608360"/>
            <a:ext cx="9142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7" name="Google Shape;20;p3"/>
          <p:cNvSpPr/>
          <p:nvPr/>
        </p:nvSpPr>
        <p:spPr>
          <a:xfrm>
            <a:off x="238680" y="19224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2;p21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30000" y="53496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Google Shape;125;p21"/>
          <p:cNvSpPr/>
          <p:nvPr/>
        </p:nvSpPr>
        <p:spPr>
          <a:xfrm>
            <a:off x="2324880" y="3560760"/>
            <a:ext cx="44935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150" b="1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CREDITS:</a:t>
            </a:r>
            <a:r>
              <a:rPr lang="en" sz="115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This presentation template was created by </a:t>
            </a:r>
            <a:r>
              <a:rPr lang="en" sz="115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2"/>
              </a:rPr>
              <a:t>Slidesgo</a:t>
            </a:r>
            <a:r>
              <a:rPr lang="en" sz="115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includes icons, infographics &amp; images by </a:t>
            </a:r>
            <a:r>
              <a:rPr lang="en" sz="115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3"/>
              </a:rPr>
              <a:t>Freepik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126;p21"/>
          <p:cNvSpPr/>
          <p:nvPr/>
        </p:nvSpPr>
        <p:spPr>
          <a:xfrm>
            <a:off x="7722000" y="359316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E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154;p28"/>
          <p:cNvCxnSpPr/>
          <p:nvPr/>
        </p:nvCxnSpPr>
        <p:spPr>
          <a:xfrm>
            <a:off x="6122880" y="536040"/>
            <a:ext cx="360" cy="407268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7" name="Прямоугольник 26"/>
          <p:cNvSpPr/>
          <p:nvPr/>
        </p:nvSpPr>
        <p:spPr>
          <a:xfrm>
            <a:off x="712800" y="832900"/>
            <a:ext cx="54097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0" b="1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FinPulse</a:t>
            </a:r>
            <a:endParaRPr lang="ru-RU" sz="21600" b="1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712440" y="1206080"/>
            <a:ext cx="4086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Учёт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доходов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расходов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планирование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бюджета</a:t>
            </a:r>
            <a:r>
              <a:rPr lang="en-US" b="0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en-US" b="0" u="none" strike="noStrike" dirty="0" err="1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целей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D49A78-74AB-16B9-2AAC-E807D2EEC305}"/>
              </a:ext>
            </a:extLst>
          </p:cNvPr>
          <p:cNvSpPr txBox="1"/>
          <p:nvPr/>
        </p:nvSpPr>
        <p:spPr>
          <a:xfrm>
            <a:off x="2528099" y="3605561"/>
            <a:ext cx="3594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Подготовила студентка 2 курса,</a:t>
            </a:r>
          </a:p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направления </a:t>
            </a:r>
            <a:r>
              <a:rPr lang="ru-RU" dirty="0" err="1">
                <a:latin typeface="Segoe UI" panose="020B0502040204020203" pitchFamily="34" charset="0"/>
                <a:cs typeface="Segoe UI" panose="020B0502040204020203" pitchFamily="34" charset="0"/>
              </a:rPr>
              <a:t>ИСиТ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Албакова Фатима</a:t>
            </a:r>
          </a:p>
        </p:txBody>
      </p:sp>
      <p:pic>
        <p:nvPicPr>
          <p:cNvPr id="10" name="Рисунок 9" descr="Монеты со сплошной заливкой">
            <a:extLst>
              <a:ext uri="{FF2B5EF4-FFF2-40B4-BE49-F238E27FC236}">
                <a16:creationId xmlns:a16="http://schemas.microsoft.com/office/drawing/2014/main" id="{B891C513-C3F1-9525-2BFF-DB47C3441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420" y="3231632"/>
            <a:ext cx="1297259" cy="129725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98;p32"/>
          <p:cNvSpPr/>
          <p:nvPr/>
        </p:nvSpPr>
        <p:spPr>
          <a:xfrm>
            <a:off x="2344680" y="445320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" name="Google Shape;199;p32"/>
          <p:cNvGrpSpPr/>
          <p:nvPr/>
        </p:nvGrpSpPr>
        <p:grpSpPr>
          <a:xfrm>
            <a:off x="5432400" y="2275920"/>
            <a:ext cx="2268000" cy="2268360"/>
            <a:chOff x="5432400" y="2275920"/>
            <a:chExt cx="2268000" cy="2268360"/>
          </a:xfrm>
        </p:grpSpPr>
        <p:sp>
          <p:nvSpPr>
            <p:cNvPr id="31" name="Google Shape;200;p32"/>
            <p:cNvSpPr/>
            <p:nvPr/>
          </p:nvSpPr>
          <p:spPr>
            <a:xfrm>
              <a:off x="6123600" y="323100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01;p32"/>
            <p:cNvSpPr/>
            <p:nvPr/>
          </p:nvSpPr>
          <p:spPr>
            <a:xfrm>
              <a:off x="5432400" y="2275920"/>
              <a:ext cx="2268000" cy="22683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 descr="Деньги со сплошной заливкой">
            <a:extLst>
              <a:ext uri="{FF2B5EF4-FFF2-40B4-BE49-F238E27FC236}">
                <a16:creationId xmlns:a16="http://schemas.microsoft.com/office/drawing/2014/main" id="{F0E5257E-EFB6-C150-8BA1-D99CE142D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545" y="2431513"/>
            <a:ext cx="413584" cy="4474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CB336B-E2B7-E7EB-94CE-1B2D2B994C71}"/>
              </a:ext>
            </a:extLst>
          </p:cNvPr>
          <p:cNvSpPr txBox="1"/>
          <p:nvPr/>
        </p:nvSpPr>
        <p:spPr>
          <a:xfrm>
            <a:off x="609597" y="370121"/>
            <a:ext cx="3494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Проблема</a:t>
            </a:r>
          </a:p>
        </p:txBody>
      </p:sp>
      <p:pic>
        <p:nvPicPr>
          <p:cNvPr id="8" name="Рисунок 7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94842E63-DAF4-6B5C-FFFB-7D5E13100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464" y="2983450"/>
            <a:ext cx="497485" cy="4974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AAD7F9-5495-96AE-FEB3-EF9A60DD13F6}"/>
              </a:ext>
            </a:extLst>
          </p:cNvPr>
          <p:cNvSpPr txBox="1"/>
          <p:nvPr/>
        </p:nvSpPr>
        <p:spPr>
          <a:xfrm>
            <a:off x="906129" y="2491733"/>
            <a:ext cx="421037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Спонтанные траты истощают бюджет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80E13-5CC3-FF12-65FA-3B3262FD998C}"/>
              </a:ext>
            </a:extLst>
          </p:cNvPr>
          <p:cNvSpPr txBox="1"/>
          <p:nvPr/>
        </p:nvSpPr>
        <p:spPr>
          <a:xfrm>
            <a:off x="906129" y="3042005"/>
            <a:ext cx="4187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Сложно вспомнить, куда ушли деньги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271B8-875B-C681-A08D-C855DB86D3FF}"/>
              </a:ext>
            </a:extLst>
          </p:cNvPr>
          <p:cNvSpPr txBox="1"/>
          <p:nvPr/>
        </p:nvSpPr>
        <p:spPr>
          <a:xfrm>
            <a:off x="898467" y="3599468"/>
            <a:ext cx="4490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Без учёта невозможно накопить на цель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18" name="Рисунок 17" descr="Доллар со сплошной заливкой">
            <a:extLst>
              <a:ext uri="{FF2B5EF4-FFF2-40B4-BE49-F238E27FC236}">
                <a16:creationId xmlns:a16="http://schemas.microsoft.com/office/drawing/2014/main" id="{47680061-9036-ACC4-6EE1-E28EFC8C15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283" y="3514859"/>
            <a:ext cx="497485" cy="4974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A6A898-A8E7-8D9F-3B92-7F8F11878FFC}"/>
              </a:ext>
            </a:extLst>
          </p:cNvPr>
          <p:cNvSpPr txBox="1"/>
          <p:nvPr/>
        </p:nvSpPr>
        <p:spPr>
          <a:xfrm>
            <a:off x="609597" y="920464"/>
            <a:ext cx="3110324" cy="518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Prosto One"/>
              </a:rPr>
              <a:t>Почему это важно</a:t>
            </a:r>
            <a:r>
              <a:rPr lang="en-US" sz="2800" dirty="0">
                <a:latin typeface="Prosto One"/>
              </a:rPr>
              <a:t>?</a:t>
            </a:r>
            <a:endParaRPr lang="ru-RU" sz="2800" dirty="0">
              <a:latin typeface="Prosto On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2762640" y="589825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Решение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2762640" y="1258455"/>
            <a:ext cx="3238200" cy="609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Что такое </a:t>
            </a:r>
            <a:r>
              <a:rPr lang="en-US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FinPulse</a:t>
            </a:r>
            <a:r>
              <a:rPr lang="en-US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400" b="0" u="none" strike="noStrike" dirty="0"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5048280" y="3333600"/>
            <a:ext cx="323820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C98D0-6144-8E8C-81B0-D64700838FB1}"/>
              </a:ext>
            </a:extLst>
          </p:cNvPr>
          <p:cNvSpPr txBox="1"/>
          <p:nvPr/>
        </p:nvSpPr>
        <p:spPr>
          <a:xfrm>
            <a:off x="915389" y="1933216"/>
            <a:ext cx="30470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Приложение для ежедневного учёта доходов и расходов. Помогает контролировать бюджет, планировать траты и достигать финансовых целей.</a:t>
            </a:r>
            <a:endParaRPr lang="ru-RU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86;p31"/>
          <p:cNvSpPr/>
          <p:nvPr/>
        </p:nvSpPr>
        <p:spPr>
          <a:xfrm>
            <a:off x="5805000" y="1751040"/>
            <a:ext cx="988920" cy="988560"/>
          </a:xfrm>
          <a:custGeom>
            <a:avLst/>
            <a:gdLst>
              <a:gd name="textAreaLeft" fmla="*/ 0 w 988920"/>
              <a:gd name="textAreaRight" fmla="*/ 989280 w 988920"/>
              <a:gd name="textAreaTop" fmla="*/ 0 h 988560"/>
              <a:gd name="textAreaBottom" fmla="*/ 988920 h 988560"/>
            </a:gdLst>
            <a:ahLst/>
            <a:cxnLst/>
            <a:rect l="textAreaLeft" t="textAreaTop" r="textAreaRight" b="textAreaBottom"/>
            <a:pathLst>
              <a:path w="31316" h="31304">
                <a:moveTo>
                  <a:pt x="15658" y="0"/>
                </a:moveTo>
                <a:lnTo>
                  <a:pt x="13215" y="6544"/>
                </a:lnTo>
                <a:lnTo>
                  <a:pt x="7823" y="2097"/>
                </a:lnTo>
                <a:lnTo>
                  <a:pt x="8998" y="8987"/>
                </a:lnTo>
                <a:lnTo>
                  <a:pt x="2097" y="7823"/>
                </a:lnTo>
                <a:lnTo>
                  <a:pt x="6556" y="13204"/>
                </a:lnTo>
                <a:lnTo>
                  <a:pt x="0" y="15646"/>
                </a:lnTo>
                <a:lnTo>
                  <a:pt x="6556" y="18089"/>
                </a:lnTo>
                <a:lnTo>
                  <a:pt x="2097" y="23481"/>
                </a:lnTo>
                <a:lnTo>
                  <a:pt x="8998" y="22317"/>
                </a:lnTo>
                <a:lnTo>
                  <a:pt x="7823" y="29207"/>
                </a:lnTo>
                <a:lnTo>
                  <a:pt x="13215" y="24760"/>
                </a:lnTo>
                <a:lnTo>
                  <a:pt x="15658" y="31304"/>
                </a:lnTo>
                <a:lnTo>
                  <a:pt x="18100" y="24760"/>
                </a:lnTo>
                <a:lnTo>
                  <a:pt x="23492" y="29207"/>
                </a:lnTo>
                <a:lnTo>
                  <a:pt x="22317" y="22317"/>
                </a:lnTo>
                <a:lnTo>
                  <a:pt x="29218" y="23481"/>
                </a:lnTo>
                <a:lnTo>
                  <a:pt x="29218" y="23481"/>
                </a:lnTo>
                <a:lnTo>
                  <a:pt x="24760" y="18089"/>
                </a:lnTo>
                <a:lnTo>
                  <a:pt x="31315" y="15646"/>
                </a:lnTo>
                <a:lnTo>
                  <a:pt x="24760" y="13204"/>
                </a:lnTo>
                <a:lnTo>
                  <a:pt x="29218" y="7823"/>
                </a:lnTo>
                <a:lnTo>
                  <a:pt x="29218" y="7823"/>
                </a:lnTo>
                <a:lnTo>
                  <a:pt x="22317" y="8987"/>
                </a:lnTo>
                <a:lnTo>
                  <a:pt x="22317" y="8987"/>
                </a:lnTo>
                <a:lnTo>
                  <a:pt x="23492" y="2097"/>
                </a:lnTo>
                <a:lnTo>
                  <a:pt x="23492" y="2097"/>
                </a:lnTo>
                <a:lnTo>
                  <a:pt x="18100" y="6544"/>
                </a:lnTo>
                <a:lnTo>
                  <a:pt x="15658" y="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91;p31"/>
          <p:cNvSpPr/>
          <p:nvPr/>
        </p:nvSpPr>
        <p:spPr>
          <a:xfrm>
            <a:off x="8296920" y="95724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714240" y="3371760"/>
            <a:ext cx="43621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583560" y="957240"/>
            <a:ext cx="4362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Технологии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497C079-ECCF-F21C-E9E3-41854AD90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0417"/>
              </p:ext>
            </p:extLst>
          </p:nvPr>
        </p:nvGraphicFramePr>
        <p:xfrm>
          <a:off x="714240" y="2457720"/>
          <a:ext cx="5730241" cy="883920"/>
        </p:xfrm>
        <a:graphic>
          <a:graphicData uri="http://schemas.openxmlformats.org/drawingml/2006/table">
            <a:tbl>
              <a:tblPr/>
              <a:tblGrid>
                <a:gridCol w="1645011">
                  <a:extLst>
                    <a:ext uri="{9D8B030D-6E8A-4147-A177-3AD203B41FA5}">
                      <a16:colId xmlns:a16="http://schemas.microsoft.com/office/drawing/2014/main" val="1068806125"/>
                    </a:ext>
                  </a:extLst>
                </a:gridCol>
                <a:gridCol w="2042615">
                  <a:extLst>
                    <a:ext uri="{9D8B030D-6E8A-4147-A177-3AD203B41FA5}">
                      <a16:colId xmlns:a16="http://schemas.microsoft.com/office/drawing/2014/main" val="1579932307"/>
                    </a:ext>
                  </a:extLst>
                </a:gridCol>
                <a:gridCol w="2042615">
                  <a:extLst>
                    <a:ext uri="{9D8B030D-6E8A-4147-A177-3AD203B41FA5}">
                      <a16:colId xmlns:a16="http://schemas.microsoft.com/office/drawing/2014/main" val="3341687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Python 3.13</a:t>
                      </a:r>
                      <a:endParaRPr lang="en-US" sz="20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PyQt6</a:t>
                      </a:r>
                      <a:endParaRPr lang="en-US" sz="18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SQLite</a:t>
                      </a:r>
                      <a:endParaRPr lang="en-US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2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Matplotlib</a:t>
                      </a:r>
                      <a:endParaRPr lang="ru-RU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QtAwesome</a:t>
                      </a:r>
                      <a:endParaRPr lang="ru-RU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7728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9C1ED-1B31-F555-566C-FB8A04EE19D2}"/>
              </a:ext>
            </a:extLst>
          </p:cNvPr>
          <p:cNvSpPr txBox="1"/>
          <p:nvPr/>
        </p:nvSpPr>
        <p:spPr>
          <a:xfrm>
            <a:off x="2999678" y="160872"/>
            <a:ext cx="3609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18D088-8780-5520-F1DB-1E0DF2F9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97" y="939186"/>
            <a:ext cx="7359805" cy="37489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812555" y="314242"/>
            <a:ext cx="74293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Функции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BA83A-111E-9CA2-7E3B-0BF06F0CB783}"/>
              </a:ext>
            </a:extLst>
          </p:cNvPr>
          <p:cNvSpPr txBox="1"/>
          <p:nvPr/>
        </p:nvSpPr>
        <p:spPr>
          <a:xfrm>
            <a:off x="812555" y="1356246"/>
            <a:ext cx="291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Возможности</a:t>
            </a:r>
            <a:r>
              <a:rPr lang="en-US" sz="24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ru-RU" sz="2400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326547B-DA6D-112D-84FA-43BDB8A0E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750013"/>
              </p:ext>
            </p:extLst>
          </p:nvPr>
        </p:nvGraphicFramePr>
        <p:xfrm>
          <a:off x="812555" y="1879728"/>
          <a:ext cx="5730240" cy="12192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358944419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745055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Доходы и расходы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Категории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73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accent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Добавление операций в один клик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Еда, транспорт, работа и другие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498726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DEA908A-E78B-0C9C-43E4-2081804AD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08989"/>
              </p:ext>
            </p:extLst>
          </p:nvPr>
        </p:nvGraphicFramePr>
        <p:xfrm>
          <a:off x="812555" y="3161638"/>
          <a:ext cx="5730240" cy="12192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74435926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398185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Бюджет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Цели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94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Лимит на неделю, месяц, год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Отслеживание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128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209;p33"/>
          <p:cNvGrpSpPr/>
          <p:nvPr/>
        </p:nvGrpSpPr>
        <p:grpSpPr>
          <a:xfrm>
            <a:off x="5840640" y="3166200"/>
            <a:ext cx="2855520" cy="1442160"/>
            <a:chOff x="5840640" y="3166200"/>
            <a:chExt cx="2855520" cy="1442160"/>
          </a:xfrm>
        </p:grpSpPr>
        <p:sp>
          <p:nvSpPr>
            <p:cNvPr id="46" name="Google Shape;210;p33"/>
            <p:cNvSpPr/>
            <p:nvPr/>
          </p:nvSpPr>
          <p:spPr>
            <a:xfrm>
              <a:off x="5840640" y="372276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7" name="Google Shape;211;p33"/>
            <p:cNvGrpSpPr/>
            <p:nvPr/>
          </p:nvGrpSpPr>
          <p:grpSpPr>
            <a:xfrm>
              <a:off x="6118560" y="3300120"/>
              <a:ext cx="2577240" cy="242640"/>
              <a:chOff x="6118560" y="3300120"/>
              <a:chExt cx="2577240" cy="242640"/>
            </a:xfrm>
          </p:grpSpPr>
          <p:sp>
            <p:nvSpPr>
              <p:cNvPr id="48" name="Google Shape;212;p33"/>
              <p:cNvSpPr/>
              <p:nvPr/>
            </p:nvSpPr>
            <p:spPr>
              <a:xfrm>
                <a:off x="6118560" y="33001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213;p33"/>
              <p:cNvSpPr/>
              <p:nvPr/>
            </p:nvSpPr>
            <p:spPr>
              <a:xfrm>
                <a:off x="6118560" y="340344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" name="Google Shape;214;p33"/>
            <p:cNvGrpSpPr/>
            <p:nvPr/>
          </p:nvGrpSpPr>
          <p:grpSpPr>
            <a:xfrm>
              <a:off x="6118920" y="3166200"/>
              <a:ext cx="2577240" cy="242640"/>
              <a:chOff x="6118920" y="3166200"/>
              <a:chExt cx="2577240" cy="242640"/>
            </a:xfrm>
          </p:grpSpPr>
          <p:sp>
            <p:nvSpPr>
              <p:cNvPr id="51" name="Google Shape;215;p33"/>
              <p:cNvSpPr/>
              <p:nvPr/>
            </p:nvSpPr>
            <p:spPr>
              <a:xfrm rot="10800000">
                <a:off x="6118920" y="32695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216;p33"/>
              <p:cNvSpPr/>
              <p:nvPr/>
            </p:nvSpPr>
            <p:spPr>
              <a:xfrm rot="10800000">
                <a:off x="6118920" y="316620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4" name="Прямоугольник 53"/>
          <p:cNvSpPr/>
          <p:nvPr/>
        </p:nvSpPr>
        <p:spPr>
          <a:xfrm>
            <a:off x="723960" y="380880"/>
            <a:ext cx="7705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Бюджет и цели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8012C-1B40-8675-D0D9-AEB542600982}"/>
              </a:ext>
            </a:extLst>
          </p:cNvPr>
          <p:cNvSpPr txBox="1"/>
          <p:nvPr/>
        </p:nvSpPr>
        <p:spPr>
          <a:xfrm>
            <a:off x="723960" y="1467862"/>
            <a:ext cx="47405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Умный бюджет – установка лимита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BDDF2-F63C-528E-14EE-E6D30ECABEC8}"/>
              </a:ext>
            </a:extLst>
          </p:cNvPr>
          <p:cNvSpPr txBox="1"/>
          <p:nvPr/>
        </p:nvSpPr>
        <p:spPr>
          <a:xfrm>
            <a:off x="723960" y="1907639"/>
            <a:ext cx="45974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Прогресс-бар показывает остаток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B546DF-32F4-905C-E6C0-10B2089DAB2D}"/>
              </a:ext>
            </a:extLst>
          </p:cNvPr>
          <p:cNvSpPr txBox="1"/>
          <p:nvPr/>
        </p:nvSpPr>
        <p:spPr>
          <a:xfrm>
            <a:off x="723960" y="2356306"/>
            <a:ext cx="56981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Финансовые цели – копилка с прогрессом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560E2-6176-6491-0AD8-5C6A09B7875C}"/>
              </a:ext>
            </a:extLst>
          </p:cNvPr>
          <p:cNvSpPr txBox="1"/>
          <p:nvPr/>
        </p:nvSpPr>
        <p:spPr>
          <a:xfrm>
            <a:off x="723960" y="2804973"/>
            <a:ext cx="42873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Пополнение целей в один клик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2B41A4-26C3-A580-8904-0ECDB5CF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0" y="1018479"/>
            <a:ext cx="4889238" cy="3144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0FC8A-2E36-B87A-F290-010CE1494CFB}"/>
              </a:ext>
            </a:extLst>
          </p:cNvPr>
          <p:cNvSpPr txBox="1"/>
          <p:nvPr/>
        </p:nvSpPr>
        <p:spPr>
          <a:xfrm>
            <a:off x="2145431" y="262839"/>
            <a:ext cx="5378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Аналитика расходов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3C51F-6A63-AA14-F72E-4E26E9B8595B}"/>
              </a:ext>
            </a:extLst>
          </p:cNvPr>
          <p:cNvSpPr txBox="1"/>
          <p:nvPr/>
        </p:nvSpPr>
        <p:spPr>
          <a:xfrm>
            <a:off x="5378604" y="1340057"/>
            <a:ext cx="2999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Круговая диаграмма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22308-6586-8899-7DDD-FCF7A6AB5469}"/>
              </a:ext>
            </a:extLst>
          </p:cNvPr>
          <p:cNvSpPr txBox="1"/>
          <p:nvPr/>
        </p:nvSpPr>
        <p:spPr>
          <a:xfrm>
            <a:off x="5378603" y="1709389"/>
            <a:ext cx="3274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Автоматическое обновление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3CE38-CD89-229A-E487-5D6B378DDAEA}"/>
              </a:ext>
            </a:extLst>
          </p:cNvPr>
          <p:cNvSpPr txBox="1"/>
          <p:nvPr/>
        </p:nvSpPr>
        <p:spPr>
          <a:xfrm>
            <a:off x="5378604" y="2078721"/>
            <a:ext cx="2999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Визуализация помогает видеть куда уходят деньги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73BD8-4AB8-2DE6-B695-35E9912879F9}"/>
              </a:ext>
            </a:extLst>
          </p:cNvPr>
          <p:cNvSpPr txBox="1"/>
          <p:nvPr/>
        </p:nvSpPr>
        <p:spPr>
          <a:xfrm>
            <a:off x="1315843" y="1940312"/>
            <a:ext cx="6907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Спасибо 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0B5AC-793E-EB04-7DAB-FF3D32E39D09}"/>
              </a:ext>
            </a:extLst>
          </p:cNvPr>
          <p:cNvSpPr txBox="1"/>
          <p:nvPr/>
        </p:nvSpPr>
        <p:spPr>
          <a:xfrm>
            <a:off x="3635298" y="2683727"/>
            <a:ext cx="14622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Вопросы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ru-RU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55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usiness Management by Slidesgo">
  <a:themeElements>
    <a:clrScheme name="Simple Light">
      <a:dk1>
        <a:srgbClr val="FFFFFF"/>
      </a:dk1>
      <a:lt1>
        <a:srgbClr val="363EA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142</Words>
  <Application>Microsoft Office PowerPoint</Application>
  <PresentationFormat>Экран (16:9)</PresentationFormat>
  <Paragraphs>41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Didact Gothic</vt:lpstr>
      <vt:lpstr>OpenSymbol</vt:lpstr>
      <vt:lpstr>Prosto One</vt:lpstr>
      <vt:lpstr>quote-cjk-patch</vt:lpstr>
      <vt:lpstr>Segoe UI</vt:lpstr>
      <vt:lpstr>Symbol</vt:lpstr>
      <vt:lpstr>Wingdings</vt:lpstr>
      <vt:lpstr>Business Management by Slidesgo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Azerty</dc:creator>
  <cp:lastModifiedBy>Фатима Албакова</cp:lastModifiedBy>
  <cp:revision>3</cp:revision>
  <dcterms:modified xsi:type="dcterms:W3CDTF">2026-05-24T20:08:28Z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2026-05-21T13:13:19Z</dcterms:created>
  <dc:creator>Unknown Creator</dc:creator>
  <dc:description/>
  <dc:language>en-US</dc:language>
  <cp:lastModifiedBy>Unknown Creator</cp:lastModifiedBy>
  <dcterms:modified xsi:type="dcterms:W3CDTF">2026-05-21T13:13:19Z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